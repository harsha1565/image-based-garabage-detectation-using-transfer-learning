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1" r:id="rId5"/>
    <p:sldId id="271" r:id="rId6"/>
    <p:sldId id="272" r:id="rId7"/>
    <p:sldId id="274" r:id="rId8"/>
    <p:sldId id="275" r:id="rId9"/>
    <p:sldId id="312" r:id="rId10"/>
    <p:sldId id="315" r:id="rId11"/>
    <p:sldId id="314" r:id="rId12"/>
    <p:sldId id="309" r:id="rId13"/>
    <p:sldId id="310" r:id="rId14"/>
    <p:sldId id="311" r:id="rId15"/>
    <p:sldId id="306"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43"/>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27C600C-C61D-4B2A-A47B-586CFA6FEEA2}" type="datetimeFigureOut">
              <a:rPr lang="en-US" smtClean="0"/>
              <a:t>2/27/2026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042F2E9-BF7E-476D-A34F-8138ADC11BBA}" type="slidenum">
              <a:rPr lang="en-US" smtClean="0"/>
              <a:t>‹#›</a:t>
            </a:fld>
            <a:endParaRPr lang="en-US"/>
          </a:p>
        </p:txBody>
      </p:sp>
    </p:spTree>
    <p:extLst>
      <p:ext uri="{BB962C8B-B14F-4D97-AF65-F5344CB8AC3E}">
        <p14:creationId xmlns:p14="http://schemas.microsoft.com/office/powerpoint/2010/main" val="3016856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p:spPr>
      </p:sp>
      <p:sp>
        <p:nvSpPr>
          <p:cNvPr id="143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143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062319A-84B9-4940-89CF-EF417369B253}" type="slidenum">
              <a:rPr lang="en-US" smtClean="0">
                <a:latin typeface="Arial" charset="0"/>
                <a:cs typeface="Arial" charset="0"/>
              </a:rPr>
              <a:pPr/>
              <a:t>1</a:t>
            </a:fld>
            <a:endParaRPr lang="en-US">
              <a:latin typeface="Arial" charset="0"/>
              <a:cs typeface="Arial" charset="0"/>
            </a:endParaRPr>
          </a:p>
        </p:txBody>
      </p:sp>
    </p:spTree>
    <p:extLst>
      <p:ext uri="{BB962C8B-B14F-4D97-AF65-F5344CB8AC3E}">
        <p14:creationId xmlns:p14="http://schemas.microsoft.com/office/powerpoint/2010/main" val="1411493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6A8E753-104F-41EE-8906-46A17B9DDA30}"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A8E753-104F-41EE-8906-46A17B9DDA30}"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A8E753-104F-41EE-8906-46A17B9DDA30}"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6A8E753-104F-41EE-8906-46A17B9DDA30}" type="datetimeFigureOut">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6A8E753-104F-41EE-8906-46A17B9DDA30}" type="datetimeFigureOut">
              <a:rPr lang="en-US" smtClean="0"/>
              <a:t>2/27/2026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A8E753-104F-41EE-8906-46A17B9DDA30}" type="datetimeFigureOut">
              <a:rPr lang="en-US" smtClean="0"/>
              <a:t>2/27/2026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A8E753-104F-41EE-8906-46A17B9DDA30}" type="datetimeFigureOut">
              <a:rPr lang="en-US" smtClean="0"/>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A8E753-104F-41EE-8906-46A17B9DDA30}" type="datetimeFigureOut">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A8E753-104F-41EE-8906-46A17B9DDA30}" type="datetimeFigureOut">
              <a:rPr lang="en-US" smtClean="0"/>
              <a:t>2/27/2026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A8E753-104F-41EE-8906-46A17B9DDA30}"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A8E753-104F-41EE-8906-46A17B9DDA30}" type="datetimeFigureOut">
              <a:rPr lang="en-US" smtClean="0"/>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C3E942-B799-4BB5-B3B7-FBA5C48072B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A8E753-104F-41EE-8906-46A17B9DDA30}" type="datetimeFigureOut">
              <a:rPr lang="en-US" smtClean="0"/>
              <a:t>2/27/2026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C3E942-B799-4BB5-B3B7-FBA5C48072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creativecommons.org/licenses/by-nc/4.0/" TargetMode="External"/><Relationship Id="rId2" Type="http://schemas.openxmlformats.org/officeDocument/2006/relationships/hyperlink" Target="https://doi.org/10.3390/su17198761" TargetMode="External"/><Relationship Id="rId1" Type="http://schemas.openxmlformats.org/officeDocument/2006/relationships/slideLayout" Target="../slideLayouts/slideLayout2.xml"/><Relationship Id="rId4" Type="http://schemas.openxmlformats.org/officeDocument/2006/relationships/hyperlink" Target="https://dl.acm.org.com/"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11"/>
          <p:cNvSpPr>
            <a:spLocks noChangeArrowheads="1"/>
          </p:cNvSpPr>
          <p:nvPr/>
        </p:nvSpPr>
        <p:spPr bwMode="auto">
          <a:xfrm>
            <a:off x="1104899" y="2201331"/>
            <a:ext cx="6934200" cy="830997"/>
          </a:xfrm>
          <a:prstGeom prst="rect">
            <a:avLst/>
          </a:prstGeom>
          <a:noFill/>
          <a:ln w="9525">
            <a:noFill/>
            <a:miter lim="800000"/>
            <a:headEnd/>
            <a:tailEnd/>
          </a:ln>
        </p:spPr>
        <p:txBody>
          <a:bodyPr>
            <a:spAutoFit/>
          </a:bodyPr>
          <a:lstStyle/>
          <a:p>
            <a:pPr algn="ctr" eaLnBrk="0" hangingPunct="0"/>
            <a:r>
              <a:rPr lang="en-IN" sz="2400" b="1" dirty="0">
                <a:latin typeface="Times New Roman" panose="02020603050405020304" pitchFamily="18" charset="0"/>
                <a:cs typeface="Times New Roman" panose="02020603050405020304" pitchFamily="18" charset="0"/>
              </a:rPr>
              <a:t>IMAGE BASED GARBAGE CLASSIFICATION USING TRANSFER LEARNING</a:t>
            </a:r>
            <a:endParaRPr lang="en-US" sz="2400" b="1" dirty="0">
              <a:latin typeface="Times New Roman" pitchFamily="18" charset="0"/>
              <a:cs typeface="Times New Roman" pitchFamily="18" charset="0"/>
            </a:endParaRPr>
          </a:p>
        </p:txBody>
      </p:sp>
      <p:sp>
        <p:nvSpPr>
          <p:cNvPr id="2053" name="Rectangle 11"/>
          <p:cNvSpPr>
            <a:spLocks noChangeArrowheads="1"/>
          </p:cNvSpPr>
          <p:nvPr/>
        </p:nvSpPr>
        <p:spPr bwMode="auto">
          <a:xfrm>
            <a:off x="2438400" y="5488453"/>
            <a:ext cx="4457700" cy="1107996"/>
          </a:xfrm>
          <a:prstGeom prst="rect">
            <a:avLst/>
          </a:prstGeom>
          <a:noFill/>
          <a:ln w="9525">
            <a:noFill/>
            <a:miter lim="800000"/>
            <a:headEnd/>
            <a:tailEnd/>
          </a:ln>
        </p:spPr>
        <p:txBody>
          <a:bodyPr wrap="square">
            <a:spAutoFit/>
          </a:bodyPr>
          <a:lstStyle/>
          <a:p>
            <a:pPr algn="ctr" eaLnBrk="0" hangingPunct="0"/>
            <a:r>
              <a:rPr lang="en-US" sz="2200" b="1" dirty="0">
                <a:latin typeface="Times New Roman" pitchFamily="18" charset="0"/>
                <a:cs typeface="Times New Roman" pitchFamily="18" charset="0"/>
              </a:rPr>
              <a:t>Guided By,</a:t>
            </a:r>
          </a:p>
          <a:p>
            <a:pPr algn="ctr" eaLnBrk="0" hangingPunct="0"/>
            <a:r>
              <a:rPr lang="en-US" sz="2200" b="1" dirty="0">
                <a:latin typeface="Times New Roman" pitchFamily="18" charset="0"/>
                <a:cs typeface="Times New Roman" pitchFamily="18" charset="0"/>
              </a:rPr>
              <a:t>Dr. </a:t>
            </a:r>
            <a:r>
              <a:rPr lang="en-US" sz="2200" b="1" dirty="0" err="1">
                <a:latin typeface="Times New Roman" pitchFamily="18" charset="0"/>
                <a:cs typeface="Times New Roman" pitchFamily="18" charset="0"/>
              </a:rPr>
              <a:t>Sankar</a:t>
            </a:r>
            <a:r>
              <a:rPr lang="en-US" sz="2200" b="1" dirty="0">
                <a:latin typeface="Times New Roman" pitchFamily="18" charset="0"/>
                <a:cs typeface="Times New Roman" pitchFamily="18" charset="0"/>
              </a:rPr>
              <a:t> </a:t>
            </a:r>
          </a:p>
          <a:p>
            <a:pPr algn="ctr" eaLnBrk="0" hangingPunct="0"/>
            <a:r>
              <a:rPr lang="en-US" sz="2200" b="1" dirty="0">
                <a:latin typeface="Times New Roman" pitchFamily="18" charset="0"/>
                <a:cs typeface="Times New Roman" pitchFamily="18" charset="0"/>
              </a:rPr>
              <a:t>Assistant Professor / CSE-AIML</a:t>
            </a:r>
          </a:p>
        </p:txBody>
      </p:sp>
      <p:sp>
        <p:nvSpPr>
          <p:cNvPr id="2054" name="Rectangle 11"/>
          <p:cNvSpPr>
            <a:spLocks noChangeArrowheads="1"/>
          </p:cNvSpPr>
          <p:nvPr/>
        </p:nvSpPr>
        <p:spPr bwMode="auto">
          <a:xfrm>
            <a:off x="1828799" y="3279165"/>
            <a:ext cx="5486400" cy="1631216"/>
          </a:xfrm>
          <a:prstGeom prst="rect">
            <a:avLst/>
          </a:prstGeom>
          <a:noFill/>
          <a:ln w="9525">
            <a:noFill/>
            <a:miter lim="800000"/>
            <a:headEnd/>
            <a:tailEnd/>
          </a:ln>
        </p:spPr>
        <p:txBody>
          <a:bodyPr wrap="square">
            <a:spAutoFit/>
          </a:bodyPr>
          <a:lstStyle/>
          <a:p>
            <a:pPr algn="ctr" eaLnBrk="0" hangingPunct="0"/>
            <a:r>
              <a:rPr lang="en-US" sz="2000" b="1" dirty="0">
                <a:latin typeface="Times New Roman" pitchFamily="18" charset="0"/>
                <a:cs typeface="Times New Roman" pitchFamily="18" charset="0"/>
              </a:rPr>
              <a:t>Presentation By, </a:t>
            </a:r>
          </a:p>
          <a:p>
            <a:pPr algn="ctr" eaLnBrk="0" hangingPunct="0"/>
            <a:r>
              <a:rPr lang="en-US" sz="2000" b="1" dirty="0" err="1">
                <a:solidFill>
                  <a:srgbClr val="FF0066"/>
                </a:solidFill>
                <a:latin typeface="Times New Roman" pitchFamily="18" charset="0"/>
                <a:cs typeface="Times New Roman" pitchFamily="18" charset="0"/>
              </a:rPr>
              <a:t>D.Lakshmi</a:t>
            </a:r>
            <a:r>
              <a:rPr lang="en-US" sz="2000" b="1" dirty="0">
                <a:solidFill>
                  <a:srgbClr val="FF0066"/>
                </a:solidFill>
                <a:latin typeface="Times New Roman" pitchFamily="18" charset="0"/>
                <a:cs typeface="Times New Roman" pitchFamily="18" charset="0"/>
              </a:rPr>
              <a:t> Sailaja(23BTRCL038)                                                                  </a:t>
            </a:r>
          </a:p>
          <a:p>
            <a:pPr algn="ctr" eaLnBrk="0" hangingPunct="0"/>
            <a:r>
              <a:rPr lang="en-US" sz="2000" b="1" dirty="0" err="1">
                <a:solidFill>
                  <a:srgbClr val="FF0066"/>
                </a:solidFill>
                <a:latin typeface="Times New Roman" pitchFamily="18" charset="0"/>
                <a:cs typeface="Times New Roman" pitchFamily="18" charset="0"/>
              </a:rPr>
              <a:t>V.Dharnish</a:t>
            </a:r>
            <a:r>
              <a:rPr lang="en-US" sz="2000" b="1" dirty="0">
                <a:solidFill>
                  <a:srgbClr val="FF0066"/>
                </a:solidFill>
                <a:latin typeface="Times New Roman" pitchFamily="18" charset="0"/>
                <a:cs typeface="Times New Roman" pitchFamily="18" charset="0"/>
              </a:rPr>
              <a:t>(23BTRCL040)                                                                              </a:t>
            </a:r>
          </a:p>
          <a:p>
            <a:pPr algn="ctr" eaLnBrk="0" hangingPunct="0"/>
            <a:r>
              <a:rPr lang="en-US" sz="2000" b="1" dirty="0" err="1">
                <a:solidFill>
                  <a:srgbClr val="FF0066"/>
                </a:solidFill>
                <a:latin typeface="Times New Roman" pitchFamily="18" charset="0"/>
                <a:cs typeface="Times New Roman" pitchFamily="18" charset="0"/>
              </a:rPr>
              <a:t>C.V.Pranavi</a:t>
            </a:r>
            <a:r>
              <a:rPr lang="en-US" sz="2000" b="1" dirty="0">
                <a:solidFill>
                  <a:srgbClr val="FF0066"/>
                </a:solidFill>
                <a:latin typeface="Times New Roman" pitchFamily="18" charset="0"/>
                <a:cs typeface="Times New Roman" pitchFamily="18" charset="0"/>
              </a:rPr>
              <a:t>(23BTRCL175)</a:t>
            </a:r>
          </a:p>
          <a:p>
            <a:pPr algn="ctr" eaLnBrk="0" hangingPunct="0"/>
            <a:r>
              <a:rPr lang="en-US" sz="2000" b="1" dirty="0" err="1">
                <a:solidFill>
                  <a:srgbClr val="FF0066"/>
                </a:solidFill>
                <a:latin typeface="Times New Roman" pitchFamily="18" charset="0"/>
                <a:cs typeface="Times New Roman" pitchFamily="18" charset="0"/>
              </a:rPr>
              <a:t>A.Harshavardhan</a:t>
            </a:r>
            <a:r>
              <a:rPr lang="en-US" sz="2000" b="1" dirty="0">
                <a:solidFill>
                  <a:srgbClr val="FF0066"/>
                </a:solidFill>
                <a:latin typeface="Times New Roman" pitchFamily="18" charset="0"/>
                <a:cs typeface="Times New Roman" pitchFamily="18" charset="0"/>
              </a:rPr>
              <a:t>(23BTRCL247)</a:t>
            </a:r>
          </a:p>
        </p:txBody>
      </p:sp>
      <p:pic>
        <p:nvPicPr>
          <p:cNvPr id="2" name="Picture 1">
            <a:extLst>
              <a:ext uri="{FF2B5EF4-FFF2-40B4-BE49-F238E27FC236}">
                <a16:creationId xmlns:a16="http://schemas.microsoft.com/office/drawing/2014/main" id="{EF300F88-2DC9-A926-41D1-EF2F29375A7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14394" y="304800"/>
            <a:ext cx="8315211" cy="1226185"/>
          </a:xfrm>
          <a:prstGeom prst="rect">
            <a:avLst/>
          </a:prstGeom>
          <a:noFill/>
          <a:ln>
            <a:noFill/>
          </a:ln>
        </p:spPr>
      </p:pic>
      <p:sp>
        <p:nvSpPr>
          <p:cNvPr id="3" name="TextBox 2">
            <a:extLst>
              <a:ext uri="{FF2B5EF4-FFF2-40B4-BE49-F238E27FC236}">
                <a16:creationId xmlns:a16="http://schemas.microsoft.com/office/drawing/2014/main" id="{7924AACE-95EA-223E-D161-FDFF35E65F8E}"/>
              </a:ext>
            </a:extLst>
          </p:cNvPr>
          <p:cNvSpPr txBox="1"/>
          <p:nvPr/>
        </p:nvSpPr>
        <p:spPr>
          <a:xfrm>
            <a:off x="3581399" y="1582489"/>
            <a:ext cx="1981200" cy="430887"/>
          </a:xfrm>
          <a:prstGeom prst="rect">
            <a:avLst/>
          </a:prstGeom>
          <a:noFill/>
        </p:spPr>
        <p:txBody>
          <a:bodyPr wrap="square" rtlCol="0">
            <a:spAutoFit/>
          </a:bodyPr>
          <a:lstStyle/>
          <a:p>
            <a:pPr algn="ctr"/>
            <a:r>
              <a:rPr lang="en-IN" sz="2200" b="1" dirty="0">
                <a:latin typeface="Times New Roman" pitchFamily="18" charset="0"/>
                <a:cs typeface="Times New Roman" pitchFamily="18" charset="0"/>
              </a:rPr>
              <a:t>Team No. 20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CONTENTS</a:t>
            </a:r>
            <a:br>
              <a:rPr lang="en-US" b="1" dirty="0">
                <a:latin typeface="Book Antiqua" pitchFamily="18" charset="0"/>
              </a:rPr>
            </a:br>
            <a:endParaRPr lang="en-US" dirty="0"/>
          </a:p>
        </p:txBody>
      </p:sp>
      <p:sp>
        <p:nvSpPr>
          <p:cNvPr id="3" name="Content Placeholder 2"/>
          <p:cNvSpPr>
            <a:spLocks noGrp="1"/>
          </p:cNvSpPr>
          <p:nvPr>
            <p:ph idx="1"/>
          </p:nvPr>
        </p:nvSpPr>
        <p:spPr/>
        <p:txBody>
          <a:bodyPr>
            <a:normAutofit fontScale="70000" lnSpcReduction="20000"/>
          </a:bodyPr>
          <a:lstStyle/>
          <a:p>
            <a:pPr>
              <a:lnSpc>
                <a:spcPct val="150000"/>
              </a:lnSpc>
              <a:buFont typeface="Wingdings"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Abstract</a:t>
            </a:r>
          </a:p>
          <a:p>
            <a:pPr>
              <a:lnSpc>
                <a:spcPct val="150000"/>
              </a:lnSpc>
              <a:buFont typeface="Wingdings"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Introduction</a:t>
            </a:r>
          </a:p>
          <a:p>
            <a:pPr>
              <a:lnSpc>
                <a:spcPct val="150000"/>
              </a:lnSpc>
              <a:buFont typeface="Wingdings"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System requirement </a:t>
            </a:r>
          </a:p>
          <a:p>
            <a:pPr>
              <a:lnSpc>
                <a:spcPct val="150000"/>
              </a:lnSpc>
              <a:buFont typeface="Wingdings"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Literature Survey</a:t>
            </a:r>
          </a:p>
          <a:p>
            <a:pPr>
              <a:lnSpc>
                <a:spcPct val="150000"/>
              </a:lnSpc>
              <a:buFont typeface="Wingdings"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Existing system</a:t>
            </a:r>
          </a:p>
          <a:p>
            <a:pPr>
              <a:lnSpc>
                <a:spcPct val="150000"/>
              </a:lnSpc>
              <a:buFont typeface="Wingdings"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Block diagram</a:t>
            </a:r>
          </a:p>
          <a:p>
            <a:pPr>
              <a:lnSpc>
                <a:spcPct val="150000"/>
              </a:lnSpc>
              <a:buFont typeface="Wingdings"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Proposed System </a:t>
            </a:r>
          </a:p>
          <a:p>
            <a:pPr>
              <a:lnSpc>
                <a:spcPct val="150000"/>
              </a:lnSpc>
              <a:buFont typeface="Wingdings"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Conclusion</a:t>
            </a:r>
          </a:p>
          <a:p>
            <a:pPr>
              <a:lnSpc>
                <a:spcPct val="150000"/>
              </a:lnSpc>
              <a:buFont typeface="Wingdings" pitchFamily="2" charset="2"/>
              <a:buChar char="v"/>
            </a:pPr>
            <a:r>
              <a:rPr lang="en-US" sz="2800" b="1" dirty="0">
                <a:solidFill>
                  <a:schemeClr val="tx1">
                    <a:lumMod val="75000"/>
                    <a:lumOff val="25000"/>
                  </a:schemeClr>
                </a:solidFill>
                <a:latin typeface="Times New Roman" panose="02020603050405020304" pitchFamily="18" charset="0"/>
                <a:cs typeface="Times New Roman" panose="02020603050405020304" pitchFamily="18" charset="0"/>
              </a:rPr>
              <a:t>References</a:t>
            </a:r>
          </a:p>
          <a:p>
            <a:pPr>
              <a:buNone/>
            </a:pPr>
            <a:endParaRPr lang="en-US" b="1" dirty="0">
              <a:solidFill>
                <a:schemeClr val="tx2">
                  <a:lumMod val="60000"/>
                  <a:lumOff val="40000"/>
                </a:schemeClr>
              </a:solidFill>
              <a:latin typeface="Book Antiqua" pitchFamily="18" charset="0"/>
              <a:cs typeface="Times New Roman" pitchFamily="18" charset="0"/>
            </a:endParaRPr>
          </a:p>
          <a:p>
            <a:pPr>
              <a:buNone/>
            </a:pPr>
            <a:endParaRPr lang="en-US" b="1" dirty="0">
              <a:solidFill>
                <a:schemeClr val="tx2">
                  <a:lumMod val="60000"/>
                  <a:lumOff val="40000"/>
                </a:schemeClr>
              </a:solidFill>
              <a:latin typeface="Book Antiqua"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28600"/>
            <a:ext cx="8229600" cy="1143000"/>
          </a:xfrm>
        </p:spPr>
        <p:txBody>
          <a:bodyPr>
            <a:normAutofit/>
          </a:bodyPr>
          <a:lstStyle/>
          <a:p>
            <a:r>
              <a:rPr lang="en-US" sz="4000" dirty="0">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228600" y="1371600"/>
            <a:ext cx="8229600" cy="5638800"/>
          </a:xfrm>
        </p:spPr>
        <p:txBody>
          <a:bodyPr>
            <a:noAutofit/>
          </a:bodyPr>
          <a:lstStyle/>
          <a:p>
            <a:pPr algn="just">
              <a:lnSpc>
                <a:spcPct val="150000"/>
              </a:lnSpc>
            </a:pPr>
            <a:r>
              <a:rPr lang="en-US" sz="1600" dirty="0">
                <a:latin typeface="Times New Roman" pitchFamily="18" charset="0"/>
                <a:cs typeface="Times New Roman" pitchFamily="18" charset="0"/>
              </a:rPr>
              <a:t>One of the biggest issues facing society and the environment today is the growing amount of municipal solid waste. To improve recycling effectiveness and less environmental pollution, effective waste segregation is crucial.</a:t>
            </a:r>
          </a:p>
          <a:p>
            <a:pPr algn="just">
              <a:lnSpc>
                <a:spcPct val="150000"/>
              </a:lnSpc>
            </a:pPr>
            <a:r>
              <a:rPr lang="en-US" sz="1600" dirty="0">
                <a:latin typeface="Times New Roman" pitchFamily="18" charset="0"/>
                <a:cs typeface="Times New Roman" pitchFamily="18" charset="0"/>
              </a:rPr>
              <a:t>To classify waste images into various categories, including plastic, paper, metal, glass, cardboard, and organic waste, pre-trained convolutional neural network (CNN) models are modified and refined.</a:t>
            </a:r>
          </a:p>
          <a:p>
            <a:pPr algn="just">
              <a:lnSpc>
                <a:spcPct val="150000"/>
              </a:lnSpc>
            </a:pPr>
            <a:r>
              <a:rPr lang="en-US" sz="1600" dirty="0">
                <a:latin typeface="Times New Roman" pitchFamily="18" charset="0"/>
                <a:cs typeface="Times New Roman" pitchFamily="18" charset="0"/>
              </a:rPr>
              <a:t>Convolutional Neural Networks (CNNs) and transfer learning techniques are used in this paper to propose an automated garbage classification system based on images. To classify waste objects and organic waste, pre-trained deep learning models—such as VGG16 and ResNet50—are used as feature extractors and refined.</a:t>
            </a:r>
          </a:p>
          <a:p>
            <a:pPr algn="just">
              <a:lnSpc>
                <a:spcPct val="150000"/>
              </a:lnSpc>
            </a:pPr>
            <a:r>
              <a:rPr lang="en-IN" sz="1600" dirty="0">
                <a:latin typeface="Times New Roman" panose="02020603050405020304" pitchFamily="18" charset="0"/>
                <a:cs typeface="Times New Roman" panose="02020603050405020304" pitchFamily="18" charset="0"/>
              </a:rPr>
              <a:t>Transfer learning reduces training time and computational requirements while increasing classification accuracy by utilizing knowledge gained from large-scale image datasets. </a:t>
            </a:r>
            <a:endParaRPr lang="en-US" sz="1600" dirty="0">
              <a:latin typeface="Times New Roman" pitchFamily="18" charset="0"/>
              <a:cs typeface="Times New Roman" pitchFamily="18" charset="0"/>
            </a:endParaRPr>
          </a:p>
          <a:p>
            <a:pPr marL="0" indent="0" algn="just">
              <a:lnSpc>
                <a:spcPct val="150000"/>
              </a:lnSpc>
              <a:buNone/>
            </a:pPr>
            <a:r>
              <a:rPr lang="en-IN" sz="1600" dirty="0">
                <a:latin typeface="Times New Roman" panose="02020603050405020304" pitchFamily="18" charset="0"/>
                <a:cs typeface="Times New Roman" panose="02020603050405020304" pitchFamily="18" charset="0"/>
              </a:rPr>
              <a:t>      </a:t>
            </a:r>
            <a:endParaRPr lang="en-US" sz="1600" dirty="0">
              <a:latin typeface="Times New Roman" pitchFamily="18" charset="0"/>
              <a:cs typeface="Times New Roman" pitchFamily="18" charset="0"/>
            </a:endParaRPr>
          </a:p>
          <a:p>
            <a:pPr algn="just">
              <a:lnSpc>
                <a:spcPct val="150000"/>
              </a:lnSpc>
            </a:pPr>
            <a:endParaRPr lang="en-US" sz="16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2362200"/>
          </a:xfrm>
        </p:spPr>
        <p:txBody>
          <a:bodyPr>
            <a:normAutofit/>
          </a:bodyPr>
          <a:lstStyle/>
          <a:p>
            <a:r>
              <a:rPr lang="en-US" sz="4000"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228600" y="1066800"/>
            <a:ext cx="8686800" cy="6553200"/>
          </a:xfrm>
        </p:spPr>
        <p:txBody>
          <a:bodyPr>
            <a:noAutofit/>
          </a:bodyPr>
          <a:lstStyle/>
          <a:p>
            <a:pPr algn="just">
              <a:lnSpc>
                <a:spcPct val="150000"/>
              </a:lnSpc>
            </a:pPr>
            <a:r>
              <a:rPr lang="en-US" sz="1600" dirty="0">
                <a:latin typeface="Times New Roman" panose="02020603050405020304" pitchFamily="18" charset="0"/>
                <a:cs typeface="Times New Roman" pitchFamily="18" charset="0"/>
              </a:rPr>
              <a:t>Rapid Increase in Waste Generation, Urbanization, population growth, and rising consumer demand have significantly increased solid waste production, leading to environmental pollution and public health risks.</a:t>
            </a:r>
          </a:p>
          <a:p>
            <a:pPr algn="just">
              <a:lnSpc>
                <a:spcPct val="150000"/>
              </a:lnSpc>
            </a:pPr>
            <a:r>
              <a:rPr lang="en-US" sz="1600" dirty="0">
                <a:latin typeface="Times New Roman" panose="02020603050405020304" pitchFamily="18" charset="0"/>
                <a:cs typeface="Times New Roman" pitchFamily="18" charset="0"/>
              </a:rPr>
              <a:t>Need for Automated Waste Segregation Traditional manual waste sorting methods are slow, inconsistent, and error-prone, highlighting the need for efficient automated waste classification systems.</a:t>
            </a:r>
          </a:p>
          <a:p>
            <a:pPr algn="just">
              <a:lnSpc>
                <a:spcPct val="150000"/>
              </a:lnSpc>
            </a:pPr>
            <a:r>
              <a:rPr lang="en-US" sz="1600" dirty="0">
                <a:latin typeface="Times New Roman" panose="02020603050405020304" pitchFamily="18" charset="0"/>
                <a:cs typeface="Times New Roman" pitchFamily="18" charset="0"/>
              </a:rPr>
              <a:t>Role of CNN in Waste Classification Convolutional Neural Networks (CNNs) effectively classify waste images by automatically learning hierarchical visual features such as edges, textures, and object shapes.</a:t>
            </a:r>
          </a:p>
          <a:p>
            <a:pPr algn="just">
              <a:lnSpc>
                <a:spcPct val="150000"/>
              </a:lnSpc>
            </a:pPr>
            <a:r>
              <a:rPr lang="en-US" sz="1600" dirty="0">
                <a:latin typeface="Times New Roman" panose="02020603050405020304" pitchFamily="18" charset="0"/>
                <a:cs typeface="Times New Roman" pitchFamily="18" charset="0"/>
              </a:rPr>
              <a:t>Transfer learning leverages pre-trained deep learning models to reduce computational cost, training time, and dataset requirements while maintaining high classification accuracy.</a:t>
            </a:r>
          </a:p>
          <a:p>
            <a:pPr algn="just">
              <a:lnSpc>
                <a:spcPct val="150000"/>
              </a:lnSpc>
            </a:pPr>
            <a:r>
              <a:rPr lang="en-US" sz="1600" dirty="0">
                <a:latin typeface="Times New Roman" panose="02020603050405020304" pitchFamily="18" charset="0"/>
                <a:cs typeface="Times New Roman" pitchFamily="18" charset="0"/>
              </a:rPr>
              <a:t>The study fine-tunes VGG16 and ResNet50 architectures with additional fully connected layers and a </a:t>
            </a:r>
            <a:r>
              <a:rPr lang="en-US" sz="1600" dirty="0" err="1">
                <a:latin typeface="Times New Roman" panose="02020603050405020304" pitchFamily="18" charset="0"/>
                <a:cs typeface="Times New Roman" pitchFamily="18" charset="0"/>
              </a:rPr>
              <a:t>softmax</a:t>
            </a:r>
            <a:r>
              <a:rPr lang="en-US" sz="1600" dirty="0">
                <a:latin typeface="Times New Roman" panose="02020603050405020304" pitchFamily="18" charset="0"/>
                <a:cs typeface="Times New Roman" pitchFamily="18" charset="0"/>
              </a:rPr>
              <a:t> classifier to develop an accurate, reliable, and computationally efficient garbage classification system for smart waste management applications.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a:bodyPr>
          <a:lstStyle/>
          <a:p>
            <a:r>
              <a:rPr lang="en-US" sz="4000" dirty="0">
                <a:latin typeface="Times New Roman" panose="02020603050405020304" pitchFamily="18" charset="0"/>
                <a:cs typeface="Times New Roman" panose="02020603050405020304" pitchFamily="18" charset="0"/>
              </a:rPr>
              <a:t>SYSTEM REQUIREMENT</a:t>
            </a:r>
          </a:p>
        </p:txBody>
      </p:sp>
      <p:sp>
        <p:nvSpPr>
          <p:cNvPr id="3" name="Content Placeholder 2"/>
          <p:cNvSpPr>
            <a:spLocks noGrp="1"/>
          </p:cNvSpPr>
          <p:nvPr>
            <p:ph idx="1"/>
          </p:nvPr>
        </p:nvSpPr>
        <p:spPr>
          <a:xfrm>
            <a:off x="457200" y="1600200"/>
            <a:ext cx="8229600" cy="4525963"/>
          </a:xfrm>
        </p:spPr>
        <p:txBody>
          <a:bodyPr>
            <a:normAutofit/>
          </a:bodyPr>
          <a:lstStyle/>
          <a:p>
            <a:r>
              <a:rPr lang="en-US" sz="2400" b="1" dirty="0">
                <a:latin typeface="Times New Roman" panose="02020603050405020304" pitchFamily="18" charset="0"/>
                <a:cs typeface="Times New Roman" panose="02020603050405020304" pitchFamily="18" charset="0"/>
              </a:rPr>
              <a:t>Programming Language:</a:t>
            </a:r>
            <a:r>
              <a:rPr lang="en-US" sz="2400" dirty="0">
                <a:latin typeface="Times New Roman" panose="02020603050405020304" pitchFamily="18" charset="0"/>
                <a:cs typeface="Times New Roman" panose="02020603050405020304" pitchFamily="18" charset="0"/>
              </a:rPr>
              <a:t> Python 3.8+</a:t>
            </a:r>
          </a:p>
          <a:p>
            <a:r>
              <a:rPr lang="en-US" sz="2400" b="1" dirty="0">
                <a:latin typeface="Times New Roman" panose="02020603050405020304" pitchFamily="18" charset="0"/>
                <a:cs typeface="Times New Roman" panose="02020603050405020304" pitchFamily="18" charset="0"/>
              </a:rPr>
              <a:t>Deep Learning Framework:</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TensorFlow</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Keras</a:t>
            </a:r>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Pre-trained CNN Models:</a:t>
            </a:r>
            <a:endParaRPr lang="en-US" sz="2400" dirty="0">
              <a:latin typeface="Times New Roman" panose="02020603050405020304" pitchFamily="18" charset="0"/>
              <a:cs typeface="Times New Roman" panose="02020603050405020304" pitchFamily="18" charset="0"/>
            </a:endParaRPr>
          </a:p>
          <a:p>
            <a:pPr lvl="1"/>
            <a:r>
              <a:rPr lang="en-US" sz="2400" dirty="0">
                <a:latin typeface="Times New Roman" panose="02020603050405020304" pitchFamily="18" charset="0"/>
                <a:cs typeface="Times New Roman" panose="02020603050405020304" pitchFamily="18" charset="0"/>
              </a:rPr>
              <a:t>ResNet50</a:t>
            </a:r>
          </a:p>
          <a:p>
            <a:pPr lvl="1"/>
            <a:r>
              <a:rPr lang="en-US" sz="2400" dirty="0">
                <a:latin typeface="Times New Roman" panose="02020603050405020304" pitchFamily="18" charset="0"/>
                <a:cs typeface="Times New Roman" panose="02020603050405020304" pitchFamily="18" charset="0"/>
              </a:rPr>
              <a:t>VGG16</a:t>
            </a:r>
          </a:p>
          <a:p>
            <a:r>
              <a:rPr lang="en-US" sz="2400" b="1" dirty="0">
                <a:latin typeface="Times New Roman" panose="02020603050405020304" pitchFamily="18" charset="0"/>
                <a:cs typeface="Times New Roman" panose="02020603050405020304" pitchFamily="18" charset="0"/>
              </a:rPr>
              <a:t>Libraries:</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NumPy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OpenCV</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Matplotlib</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Scikit</a:t>
            </a:r>
            <a:r>
              <a:rPr lang="en-US" sz="2400" dirty="0">
                <a:latin typeface="Times New Roman" panose="02020603050405020304" pitchFamily="18" charset="0"/>
                <a:cs typeface="Times New Roman" panose="02020603050405020304" pitchFamily="18" charset="0"/>
              </a:rPr>
              <a:t>-learn</a:t>
            </a:r>
          </a:p>
          <a:p>
            <a:r>
              <a:rPr lang="en-US" sz="2400" b="1" dirty="0">
                <a:latin typeface="Times New Roman" panose="02020603050405020304" pitchFamily="18" charset="0"/>
                <a:cs typeface="Times New Roman" panose="02020603050405020304" pitchFamily="18" charset="0"/>
              </a:rPr>
              <a:t>Techniques Used:</a:t>
            </a:r>
            <a:r>
              <a:rPr lang="en-US" sz="2400" dirty="0">
                <a:latin typeface="Times New Roman" panose="02020603050405020304" pitchFamily="18" charset="0"/>
                <a:cs typeface="Times New Roman" panose="02020603050405020304" pitchFamily="18" charset="0"/>
              </a:rPr>
              <a:t> Transfer Learning &amp; Fine-Tuning</a:t>
            </a:r>
          </a:p>
          <a:p>
            <a:r>
              <a:rPr lang="en-US" sz="2400" b="1" dirty="0">
                <a:latin typeface="Times New Roman" panose="02020603050405020304" pitchFamily="18" charset="0"/>
                <a:cs typeface="Times New Roman" panose="02020603050405020304" pitchFamily="18" charset="0"/>
              </a:rPr>
              <a:t>Input Image Size:</a:t>
            </a:r>
            <a:r>
              <a:rPr lang="en-US" sz="2400" dirty="0">
                <a:latin typeface="Times New Roman" panose="02020603050405020304" pitchFamily="18" charset="0"/>
                <a:cs typeface="Times New Roman" panose="02020603050405020304" pitchFamily="18" charset="0"/>
              </a:rPr>
              <a:t> 224 × 224 pixels</a:t>
            </a:r>
          </a:p>
          <a:p>
            <a:r>
              <a:rPr lang="en-US" sz="2400" b="1" dirty="0">
                <a:latin typeface="Times New Roman" panose="02020603050405020304" pitchFamily="18" charset="0"/>
                <a:cs typeface="Times New Roman" panose="02020603050405020304" pitchFamily="18" charset="0"/>
              </a:rPr>
              <a:t>Optimizer:</a:t>
            </a:r>
            <a:r>
              <a:rPr lang="en-US" sz="2400" dirty="0">
                <a:latin typeface="Times New Roman" panose="02020603050405020304" pitchFamily="18" charset="0"/>
                <a:cs typeface="Times New Roman" panose="02020603050405020304" pitchFamily="18" charset="0"/>
              </a:rPr>
              <a:t> Adam</a:t>
            </a:r>
          </a:p>
          <a:p>
            <a:pPr marL="0" indent="0">
              <a:buNone/>
            </a:pPr>
            <a:endParaRPr lang="en-US" sz="2100" dirty="0"/>
          </a:p>
          <a:p>
            <a:pPr>
              <a:buNone/>
            </a:pPr>
            <a:endParaRPr lang="en-US" sz="18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143000"/>
          </a:xfrm>
        </p:spPr>
        <p:txBody>
          <a:bodyPr>
            <a:normAutofit/>
          </a:bodyPr>
          <a:lstStyle/>
          <a:p>
            <a:r>
              <a:rPr lang="en-US" sz="4000" dirty="0">
                <a:latin typeface="Times New Roman" panose="02020603050405020304" pitchFamily="18" charset="0"/>
                <a:cs typeface="Times New Roman" panose="02020603050405020304" pitchFamily="18" charset="0"/>
              </a:rPr>
              <a:t>LITERATURE SURVEY</a:t>
            </a:r>
          </a:p>
        </p:txBody>
      </p:sp>
      <p:sp>
        <p:nvSpPr>
          <p:cNvPr id="3" name="Content Placeholder 2"/>
          <p:cNvSpPr>
            <a:spLocks noGrp="1"/>
          </p:cNvSpPr>
          <p:nvPr>
            <p:ph idx="1"/>
          </p:nvPr>
        </p:nvSpPr>
        <p:spPr>
          <a:xfrm>
            <a:off x="152400" y="419100"/>
            <a:ext cx="8229600" cy="6096000"/>
          </a:xfrm>
        </p:spPr>
        <p:txBody>
          <a:bodyPr>
            <a:noAutofit/>
          </a:bodyPr>
          <a:lstStyle/>
          <a:p>
            <a:pPr marL="0" indent="0" algn="just">
              <a:lnSpc>
                <a:spcPct val="150000"/>
              </a:lnSpc>
              <a:buNone/>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Deep Learning for Waste Classification :</a:t>
            </a:r>
          </a:p>
          <a:p>
            <a:pPr algn="just">
              <a:lnSpc>
                <a:spcPct val="150000"/>
              </a:lnSpc>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  Several studies have shown that Convolutional Neural Networks (CNNs) achieve high accuracy in image-      based waste classification by automatically extracting visual features such as shape, texture, and color.</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Application of Transfer Learning :</a:t>
            </a:r>
          </a:p>
          <a:p>
            <a:pPr algn="just">
              <a:lnSpc>
                <a:spcPct val="150000"/>
              </a:lnSpc>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Researchers have successfully applied transfer learning using pre-trained models to reduce training time and improve performance, especially when datasets are limited.</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VGG16 in Image Classification :</a:t>
            </a:r>
          </a:p>
          <a:p>
            <a:pPr algn="just">
              <a:lnSpc>
                <a:spcPct val="150000"/>
              </a:lnSpc>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VGG16 has been widely used due to its simple and uniform architecture, providing strong feature extraction capabilities for object recognition tasks, including waste sorting.</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ResNet50 and Residual Learning :</a:t>
            </a:r>
          </a:p>
          <a:p>
            <a:pPr algn="just">
              <a:lnSpc>
                <a:spcPct val="150000"/>
              </a:lnSpc>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ResNet50 addresses the vanishing gradient problem using residual connections, enabling deeper networks and improved classification accuracy in complex image datasets.</a:t>
            </a:r>
          </a:p>
          <a:p>
            <a:pPr algn="just">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Smart Waste Management Systems :</a:t>
            </a:r>
          </a:p>
          <a:p>
            <a:pPr algn="just">
              <a:lnSpc>
                <a:spcPct val="150000"/>
              </a:lnSpc>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Recent research integrates deep learning-based classification models into automated recycling systems and smart bins to enhance sustainable waste management practices.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055" y="0"/>
            <a:ext cx="8229600" cy="1143000"/>
          </a:xfrm>
        </p:spPr>
        <p:txBody>
          <a:bodyPr>
            <a:normAutofit/>
          </a:bodyPr>
          <a:lstStyle/>
          <a:p>
            <a:r>
              <a:rPr lang="en-US" sz="4000" dirty="0">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a:xfrm>
            <a:off x="457200" y="1447800"/>
            <a:ext cx="8229600" cy="4745327"/>
          </a:xfrm>
        </p:spPr>
        <p:txBody>
          <a:bodyPr>
            <a:normAutofit/>
          </a:bodyPr>
          <a:lstStyle/>
          <a:p>
            <a:pPr marL="0" indent="0" algn="just">
              <a:lnSpc>
                <a:spcPct val="170000"/>
              </a:lnSpc>
              <a:buNone/>
            </a:pPr>
            <a:r>
              <a:rPr lang="en-US" sz="2200" b="1" dirty="0">
                <a:latin typeface="Times New Roman" panose="02020603050405020304" pitchFamily="18" charset="0"/>
                <a:cs typeface="Times New Roman" pitchFamily="18" charset="0"/>
              </a:rPr>
              <a:t>The algorithms which we are using:</a:t>
            </a: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0" indent="0">
              <a:buNone/>
            </a:pPr>
            <a:r>
              <a:rPr lang="en-US" sz="1800" b="1" dirty="0">
                <a:latin typeface="Times New Roman" panose="02020603050405020304" pitchFamily="18" charset="0"/>
                <a:cs typeface="Times New Roman" panose="02020603050405020304" pitchFamily="18" charset="0"/>
              </a:rPr>
              <a:t>      CNN with Transfer Learning :</a:t>
            </a:r>
          </a:p>
          <a:p>
            <a:r>
              <a:rPr lang="en-US" sz="1800" dirty="0">
                <a:latin typeface="Times New Roman" panose="02020603050405020304" pitchFamily="18" charset="0"/>
                <a:cs typeface="Times New Roman" panose="02020603050405020304" pitchFamily="18" charset="0"/>
              </a:rPr>
              <a:t>The proposed system uses Convolutional Neural Networks (CNN) with pre-trained models like ResNet50 and VGG16. Transfer learning and fine-tuning improve classification accuracy and reduce training time.</a:t>
            </a:r>
          </a:p>
          <a:p>
            <a:endParaRPr lang="en-US" sz="18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ResNet50 :</a:t>
            </a:r>
          </a:p>
          <a:p>
            <a:r>
              <a:rPr lang="en-US" sz="1800" dirty="0">
                <a:latin typeface="Times New Roman" panose="02020603050405020304" pitchFamily="18" charset="0"/>
                <a:cs typeface="Times New Roman" panose="02020603050405020304" pitchFamily="18" charset="0"/>
              </a:rPr>
              <a:t>ResNet50 is a deep CNN architecture that uses residual connections to solve the vanishing gradient problem. It enables training of very deep networks and provides high accuracy in image classification tasks.</a:t>
            </a:r>
          </a:p>
          <a:p>
            <a:endParaRPr lang="en-US" sz="1800" dirty="0"/>
          </a:p>
          <a:p>
            <a:endParaRPr lang="en-US" sz="1800" dirty="0"/>
          </a:p>
          <a:p>
            <a:pPr marL="0" indent="0" algn="just">
              <a:lnSpc>
                <a:spcPct val="170000"/>
              </a:lnSpc>
              <a:buNone/>
            </a:pPr>
            <a:endParaRPr lang="en-US" sz="8000" b="1"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6172200"/>
          </a:xfrm>
        </p:spPr>
        <p:txBody>
          <a:bodyPr>
            <a:noAutofit/>
          </a:bodyPr>
          <a:lstStyle/>
          <a:p>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      VGG16 :</a:t>
            </a:r>
          </a:p>
          <a:p>
            <a:r>
              <a:rPr lang="en-US" sz="1800" dirty="0">
                <a:latin typeface="Times New Roman" panose="02020603050405020304" pitchFamily="18" charset="0"/>
                <a:cs typeface="Times New Roman" panose="02020603050405020304" pitchFamily="18" charset="0"/>
              </a:rPr>
              <a:t>VGG16 is a 16-layer deep convolutional neural network known for its simple and uniform architecture. It is widely used for image classification and transfer learning applications.</a:t>
            </a:r>
          </a:p>
          <a:p>
            <a:endParaRPr lang="en-US" sz="1800" dirty="0">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Fine-Tuning :</a:t>
            </a:r>
          </a:p>
          <a:p>
            <a:r>
              <a:rPr lang="en-US" sz="1800" dirty="0">
                <a:latin typeface="Times New Roman" panose="02020603050405020304" pitchFamily="18" charset="0"/>
                <a:cs typeface="Times New Roman" panose="02020603050405020304" pitchFamily="18" charset="0"/>
              </a:rPr>
              <a:t>Fine-tuning is a transfer learning technique where the higher layers of a pre-trained model are retrained on a new dataset. It improves model performance by adapting general features to domain-specific tasks like garbage classification.</a:t>
            </a:r>
          </a:p>
          <a:p>
            <a:endParaRPr lang="en-US" sz="1800" dirty="0">
              <a:latin typeface="Times New Roman" panose="02020603050405020304" pitchFamily="18" charset="0"/>
              <a:cs typeface="Times New Roman" panose="02020603050405020304" pitchFamily="18" charset="0"/>
            </a:endParaRPr>
          </a:p>
          <a:p>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3F251-C97B-CA60-A4D5-E8740EE5C180}"/>
              </a:ext>
            </a:extLst>
          </p:cNvPr>
          <p:cNvSpPr>
            <a:spLocks noGrp="1"/>
          </p:cNvSpPr>
          <p:nvPr>
            <p:ph type="title"/>
          </p:nvPr>
        </p:nvSpPr>
        <p:spPr>
          <a:xfrm>
            <a:off x="457200" y="0"/>
            <a:ext cx="8229600" cy="1143000"/>
          </a:xfrm>
        </p:spPr>
        <p:txBody>
          <a:bodyPr/>
          <a:lstStyle/>
          <a:p>
            <a:r>
              <a:rPr lang="en-US" dirty="0">
                <a:latin typeface="Times New Roman" panose="02020603050405020304" pitchFamily="18" charset="0"/>
                <a:cs typeface="Times New Roman" panose="02020603050405020304" pitchFamily="18" charset="0"/>
              </a:rPr>
              <a:t>BLOCK DIAGRAM</a:t>
            </a:r>
            <a:endParaRPr lang="en-IN" dirty="0">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233C8A3B-46E0-4F8C-A296-44840127B1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005682"/>
            <a:ext cx="8229600" cy="5928518"/>
          </a:xfrm>
          <a:prstGeom prst="rect">
            <a:avLst/>
          </a:prstGeom>
        </p:spPr>
      </p:pic>
    </p:spTree>
    <p:extLst>
      <p:ext uri="{BB962C8B-B14F-4D97-AF65-F5344CB8AC3E}">
        <p14:creationId xmlns:p14="http://schemas.microsoft.com/office/powerpoint/2010/main" val="30625915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2400"/>
            <a:ext cx="7772400" cy="1470025"/>
          </a:xfrm>
        </p:spPr>
        <p:txBody>
          <a:bodyPr>
            <a:normAutofit/>
          </a:bodyPr>
          <a:lstStyle/>
          <a:p>
            <a:r>
              <a:rPr lang="en-US" dirty="0">
                <a:latin typeface="Times New Roman" panose="02020603050405020304" pitchFamily="18" charset="0"/>
                <a:cs typeface="Times New Roman" panose="02020603050405020304" pitchFamily="18" charset="0"/>
              </a:rPr>
              <a:t>PROPOSED SYSTEM </a:t>
            </a:r>
          </a:p>
        </p:txBody>
      </p:sp>
      <p:sp>
        <p:nvSpPr>
          <p:cNvPr id="3" name="Subtitle 2"/>
          <p:cNvSpPr>
            <a:spLocks noGrp="1"/>
          </p:cNvSpPr>
          <p:nvPr>
            <p:ph type="subTitle" idx="1"/>
          </p:nvPr>
        </p:nvSpPr>
        <p:spPr>
          <a:xfrm>
            <a:off x="152400" y="1317624"/>
            <a:ext cx="8839200" cy="5159376"/>
          </a:xfrm>
        </p:spPr>
        <p:txBody>
          <a:bodyPr>
            <a:normAutofit/>
          </a:bodyPr>
          <a:lstStyle/>
          <a:p>
            <a:pPr algn="l"/>
            <a:r>
              <a:rPr lang="en-US" sz="1800" b="1" dirty="0">
                <a:solidFill>
                  <a:schemeClr val="tx1"/>
                </a:solidFill>
                <a:latin typeface="Times New Roman" panose="02020603050405020304" pitchFamily="18" charset="0"/>
                <a:cs typeface="Times New Roman" panose="02020603050405020304" pitchFamily="18" charset="0"/>
              </a:rPr>
              <a:t>Garbage Image Dataset (Input):</a:t>
            </a:r>
          </a:p>
          <a:p>
            <a:pPr algn="l"/>
            <a:r>
              <a:rPr lang="en-US" sz="1800" dirty="0">
                <a:solidFill>
                  <a:schemeClr val="tx1"/>
                </a:solidFill>
                <a:latin typeface="Times New Roman" panose="02020603050405020304" pitchFamily="18" charset="0"/>
                <a:cs typeface="Times New Roman" panose="02020603050405020304" pitchFamily="18" charset="0"/>
              </a:rPr>
              <a:t>The system takes a labeled garbage image </a:t>
            </a:r>
            <a:r>
              <a:rPr lang="en-US" sz="1800" dirty="0" err="1">
                <a:solidFill>
                  <a:schemeClr val="tx1"/>
                </a:solidFill>
                <a:latin typeface="Times New Roman" panose="02020603050405020304" pitchFamily="18" charset="0"/>
                <a:cs typeface="Times New Roman" panose="02020603050405020304" pitchFamily="18" charset="0"/>
              </a:rPr>
              <a:t>dataset.Images</a:t>
            </a:r>
            <a:r>
              <a:rPr lang="en-US" sz="1800" dirty="0">
                <a:solidFill>
                  <a:schemeClr val="tx1"/>
                </a:solidFill>
                <a:latin typeface="Times New Roman" panose="02020603050405020304" pitchFamily="18" charset="0"/>
                <a:cs typeface="Times New Roman" panose="02020603050405020304" pitchFamily="18" charset="0"/>
              </a:rPr>
              <a:t> belong to categories like paper, plastic, metal, glass, </a:t>
            </a:r>
            <a:r>
              <a:rPr lang="en-US" sz="1800" dirty="0" err="1">
                <a:solidFill>
                  <a:schemeClr val="tx1"/>
                </a:solidFill>
                <a:latin typeface="Times New Roman" panose="02020603050405020304" pitchFamily="18" charset="0"/>
                <a:cs typeface="Times New Roman" panose="02020603050405020304" pitchFamily="18" charset="0"/>
              </a:rPr>
              <a:t>etc.This</a:t>
            </a:r>
            <a:r>
              <a:rPr lang="en-US" sz="1800" dirty="0">
                <a:solidFill>
                  <a:schemeClr val="tx1"/>
                </a:solidFill>
                <a:latin typeface="Times New Roman" panose="02020603050405020304" pitchFamily="18" charset="0"/>
                <a:cs typeface="Times New Roman" panose="02020603050405020304" pitchFamily="18" charset="0"/>
              </a:rPr>
              <a:t> dataset is used to train and test the model.</a:t>
            </a: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endParaRPr lang="en-US" sz="1800" b="1" dirty="0">
              <a:solidFill>
                <a:schemeClr val="tx1"/>
              </a:solidFill>
              <a:latin typeface="Times New Roman" panose="02020603050405020304" pitchFamily="18" charset="0"/>
              <a:cs typeface="Times New Roman" panose="02020603050405020304" pitchFamily="18" charset="0"/>
            </a:endParaRPr>
          </a:p>
          <a:p>
            <a:pPr algn="l"/>
            <a:r>
              <a:rPr lang="en-US" sz="1800" b="1" dirty="0">
                <a:solidFill>
                  <a:schemeClr val="tx1"/>
                </a:solidFill>
                <a:latin typeface="Times New Roman" panose="02020603050405020304" pitchFamily="18" charset="0"/>
                <a:cs typeface="Times New Roman" panose="02020603050405020304" pitchFamily="18" charset="0"/>
              </a:rPr>
              <a:t>Data Preprocessing :</a:t>
            </a:r>
          </a:p>
          <a:p>
            <a:pPr algn="l"/>
            <a:r>
              <a:rPr lang="en-US" sz="1800" b="1" dirty="0">
                <a:solidFill>
                  <a:schemeClr val="tx1"/>
                </a:solidFill>
                <a:latin typeface="Times New Roman" panose="02020603050405020304" pitchFamily="18" charset="0"/>
                <a:cs typeface="Times New Roman" panose="02020603050405020304" pitchFamily="18" charset="0"/>
              </a:rPr>
              <a:t>Resizing - </a:t>
            </a:r>
            <a:r>
              <a:rPr lang="en-US" sz="1800" dirty="0">
                <a:solidFill>
                  <a:schemeClr val="tx1"/>
                </a:solidFill>
                <a:latin typeface="Times New Roman" panose="02020603050405020304" pitchFamily="18" charset="0"/>
                <a:cs typeface="Times New Roman" panose="02020603050405020304" pitchFamily="18" charset="0"/>
              </a:rPr>
              <a:t>Image resizing is the process of converting all input images into a fixed and uniform size before feeding them into a convolutional neural network (CNN). Every input image must be resized to this dimension to ensure compatibility. All images are resized (224×224) to match model </a:t>
            </a:r>
            <a:r>
              <a:rPr lang="en-US" sz="1800" dirty="0" err="1">
                <a:solidFill>
                  <a:schemeClr val="tx1"/>
                </a:solidFill>
                <a:latin typeface="Times New Roman" panose="02020603050405020304" pitchFamily="18" charset="0"/>
                <a:cs typeface="Times New Roman" panose="02020603050405020304" pitchFamily="18" charset="0"/>
              </a:rPr>
              <a:t>inputsize</a:t>
            </a:r>
            <a:r>
              <a:rPr lang="en-US" sz="1800" dirty="0">
                <a:solidFill>
                  <a:schemeClr val="tx1"/>
                </a:solidFill>
                <a:latin typeface="Times New Roman" panose="02020603050405020304" pitchFamily="18" charset="0"/>
                <a:cs typeface="Times New Roman" panose="02020603050405020304" pitchFamily="18" charset="0"/>
              </a:rPr>
              <a:t>.</a:t>
            </a: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endParaRPr lang="en-US" sz="1800" dirty="0">
              <a:solidFill>
                <a:schemeClr val="tx1"/>
              </a:solidFill>
              <a:latin typeface="Times New Roman" panose="02020603050405020304" pitchFamily="18" charset="0"/>
              <a:cs typeface="Times New Roman" panose="02020603050405020304" pitchFamily="18" charset="0"/>
            </a:endParaRPr>
          </a:p>
          <a:p>
            <a:pPr algn="l"/>
            <a:r>
              <a:rPr lang="en-US" sz="1800" b="1" dirty="0">
                <a:solidFill>
                  <a:schemeClr val="tx1"/>
                </a:solidFill>
                <a:latin typeface="Times New Roman" panose="02020603050405020304" pitchFamily="18" charset="0"/>
                <a:cs typeface="Times New Roman" panose="02020603050405020304" pitchFamily="18" charset="0"/>
              </a:rPr>
              <a:t>Normalization – </a:t>
            </a:r>
            <a:r>
              <a:rPr lang="en-US" sz="1800" dirty="0">
                <a:solidFill>
                  <a:schemeClr val="tx1"/>
                </a:solidFill>
                <a:latin typeface="Times New Roman" panose="02020603050405020304" pitchFamily="18" charset="0"/>
                <a:cs typeface="Times New Roman" panose="02020603050405020304" pitchFamily="18" charset="0"/>
              </a:rPr>
              <a:t>It is the process of scaling pixel intensity values to a smaller and standardized range before training the model. Pixel values are scaled (0–1 range) for better learning. Large input values can slow down learning and make gradient updates unstable.</a:t>
            </a:r>
          </a:p>
        </p:txBody>
      </p:sp>
    </p:spTree>
    <p:extLst>
      <p:ext uri="{BB962C8B-B14F-4D97-AF65-F5344CB8AC3E}">
        <p14:creationId xmlns:p14="http://schemas.microsoft.com/office/powerpoint/2010/main" val="1395958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14300" y="762000"/>
            <a:ext cx="8915400" cy="4832092"/>
          </a:xfrm>
          <a:prstGeom prst="rect">
            <a:avLst/>
          </a:prstGeom>
        </p:spPr>
        <p:txBody>
          <a:bodyPr wrap="square">
            <a:spAutoFit/>
          </a:bodyPr>
          <a:lstStyle/>
          <a:p>
            <a:r>
              <a:rPr lang="en-US" dirty="0"/>
              <a:t> </a:t>
            </a:r>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Train–Test Split :</a:t>
            </a:r>
          </a:p>
          <a:p>
            <a:r>
              <a:rPr lang="en-US" b="1" dirty="0">
                <a:latin typeface="Times New Roman" panose="02020603050405020304" pitchFamily="18" charset="0"/>
                <a:cs typeface="Times New Roman" panose="02020603050405020304" pitchFamily="18" charset="0"/>
              </a:rPr>
              <a:t>The dataset is divided into -</a:t>
            </a:r>
            <a:r>
              <a:rPr lang="en-US" dirty="0">
                <a:latin typeface="Times New Roman" panose="02020603050405020304" pitchFamily="18" charset="0"/>
                <a:cs typeface="Times New Roman" panose="02020603050405020304" pitchFamily="18" charset="0"/>
              </a:rPr>
              <a:t>Training set → Used to train the model, Validation or Test set → Used to evaluate performance.</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The model learns features, patterns, and relationships from this data.</a:t>
            </a:r>
          </a:p>
          <a:p>
            <a:pPr lvl="0" eaLnBrk="0" fontAlgn="base" hangingPunct="0">
              <a:spcBef>
                <a:spcPct val="0"/>
              </a:spcBef>
              <a:spcAft>
                <a:spcPct val="0"/>
              </a:spcAft>
              <a:buFontTx/>
              <a:buChar char="•"/>
            </a:pPr>
            <a:r>
              <a:rPr lang="en-US" altLang="en-US" dirty="0">
                <a:latin typeface="Times New Roman" panose="02020603050405020304" pitchFamily="18" charset="0"/>
                <a:cs typeface="Times New Roman" panose="02020603050405020304" pitchFamily="18" charset="0"/>
              </a:rPr>
              <a:t>Usually consists of 70%–80% of the total dataset.</a:t>
            </a:r>
          </a:p>
          <a:p>
            <a:pPr lvl="0" eaLnBrk="0" fontAlgn="base" hangingPunct="0">
              <a:spcBef>
                <a:spcPct val="0"/>
              </a:spcBef>
              <a:spcAft>
                <a:spcPct val="0"/>
              </a:spcAft>
              <a:buFontTx/>
              <a:buChar char="•"/>
            </a:pPr>
            <a:endParaRPr lang="en-US" altLang="en-US"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endParaRPr lang="en-US" b="1"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b="1" dirty="0" err="1">
                <a:latin typeface="Times New Roman" panose="02020603050405020304" pitchFamily="18" charset="0"/>
                <a:cs typeface="Times New Roman" panose="02020603050405020304" pitchFamily="18" charset="0"/>
              </a:rPr>
              <a:t>Pretrained</a:t>
            </a:r>
            <a:r>
              <a:rPr lang="en-US" b="1" dirty="0">
                <a:latin typeface="Times New Roman" panose="02020603050405020304" pitchFamily="18" charset="0"/>
                <a:cs typeface="Times New Roman" panose="02020603050405020304" pitchFamily="18" charset="0"/>
              </a:rPr>
              <a:t> CNN models are loaded:</a:t>
            </a:r>
          </a:p>
          <a:p>
            <a:r>
              <a:rPr lang="en-US" dirty="0">
                <a:latin typeface="Times New Roman" panose="02020603050405020304" pitchFamily="18" charset="0"/>
                <a:cs typeface="Times New Roman" panose="02020603050405020304" pitchFamily="18" charset="0"/>
              </a:rPr>
              <a:t>ResNet50, VGG16These models are already trained on large datasets (like ImageNet).They provide powerful feature extraction capability.</a:t>
            </a:r>
          </a:p>
          <a:p>
            <a:endParaRPr lang="en-US"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Transfer Learning:</a:t>
            </a:r>
          </a:p>
          <a:p>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Base layers of the </a:t>
            </a:r>
            <a:r>
              <a:rPr lang="en-US" dirty="0" err="1">
                <a:latin typeface="Times New Roman" panose="02020603050405020304" pitchFamily="18" charset="0"/>
                <a:cs typeface="Times New Roman" panose="02020603050405020304" pitchFamily="18" charset="0"/>
              </a:rPr>
              <a:t>pretrained</a:t>
            </a:r>
            <a:r>
              <a:rPr lang="en-US" dirty="0">
                <a:latin typeface="Times New Roman" panose="02020603050405020304" pitchFamily="18" charset="0"/>
                <a:cs typeface="Times New Roman" panose="02020603050405020304" pitchFamily="18" charset="0"/>
              </a:rPr>
              <a:t> model are frozen.</a:t>
            </a:r>
          </a:p>
          <a:p>
            <a:r>
              <a:rPr lang="en-US" b="1" dirty="0">
                <a:latin typeface="Times New Roman" panose="02020603050405020304" pitchFamily="18" charset="0"/>
                <a:cs typeface="Times New Roman" panose="02020603050405020304" pitchFamily="18" charset="0"/>
              </a:rPr>
              <a:t>Custom layers are added - </a:t>
            </a:r>
            <a:r>
              <a:rPr lang="en-US" dirty="0">
                <a:latin typeface="Times New Roman" panose="02020603050405020304" pitchFamily="18" charset="0"/>
                <a:cs typeface="Times New Roman" panose="02020603050405020304" pitchFamily="18" charset="0"/>
              </a:rPr>
              <a:t>Dense </a:t>
            </a:r>
            <a:r>
              <a:rPr lang="en-US" dirty="0" err="1">
                <a:latin typeface="Times New Roman" panose="02020603050405020304" pitchFamily="18" charset="0"/>
                <a:cs typeface="Times New Roman" panose="02020603050405020304" pitchFamily="18" charset="0"/>
              </a:rPr>
              <a:t>layersDropout</a:t>
            </a:r>
            <a:r>
              <a:rPr lang="en-US" dirty="0">
                <a:latin typeface="Times New Roman" panose="02020603050405020304" pitchFamily="18" charset="0"/>
                <a:cs typeface="Times New Roman" panose="02020603050405020304" pitchFamily="18" charset="0"/>
              </a:rPr>
              <a:t> layer (optional)</a:t>
            </a:r>
            <a:r>
              <a:rPr lang="en-US" dirty="0" err="1">
                <a:latin typeface="Times New Roman" panose="02020603050405020304" pitchFamily="18" charset="0"/>
                <a:cs typeface="Times New Roman" panose="02020603050405020304" pitchFamily="18" charset="0"/>
              </a:rPr>
              <a:t>Softmax</a:t>
            </a:r>
            <a:r>
              <a:rPr lang="en-US" dirty="0">
                <a:latin typeface="Times New Roman" panose="02020603050405020304" pitchFamily="18" charset="0"/>
                <a:cs typeface="Times New Roman" panose="02020603050405020304" pitchFamily="18" charset="0"/>
              </a:rPr>
              <a:t> output layer (for multi-class classification)The model learns garbage-specific features</a:t>
            </a:r>
            <a:r>
              <a:rPr lang="en-US" dirty="0"/>
              <a:t>.</a:t>
            </a:r>
          </a:p>
        </p:txBody>
      </p:sp>
    </p:spTree>
    <p:extLst>
      <p:ext uri="{BB962C8B-B14F-4D97-AF65-F5344CB8AC3E}">
        <p14:creationId xmlns:p14="http://schemas.microsoft.com/office/powerpoint/2010/main" val="32131205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53849-A2C3-0966-851C-C15B1968A344}"/>
              </a:ext>
            </a:extLst>
          </p:cNvPr>
          <p:cNvSpPr>
            <a:spLocks noGrp="1"/>
          </p:cNvSpPr>
          <p:nvPr>
            <p:ph type="title"/>
          </p:nvPr>
        </p:nvSpPr>
        <p:spPr/>
        <p:txBody>
          <a:bodyPr>
            <a:normAutofit fontScale="90000"/>
          </a:bodyPr>
          <a:lstStyle/>
          <a:p>
            <a:br>
              <a:rPr lang="en-US" sz="4400" b="1" dirty="0">
                <a:solidFill>
                  <a:schemeClr val="tx1">
                    <a:lumMod val="75000"/>
                    <a:lumOff val="25000"/>
                  </a:schemeClr>
                </a:solidFill>
                <a:latin typeface="Book Antiqua" pitchFamily="18" charset="0"/>
                <a:cs typeface="Times New Roman" pitchFamily="18" charset="0"/>
              </a:rPr>
            </a:br>
            <a:endParaRPr lang="en-IN" dirty="0"/>
          </a:p>
        </p:txBody>
      </p:sp>
      <p:sp>
        <p:nvSpPr>
          <p:cNvPr id="3" name="Content Placeholder 2">
            <a:extLst>
              <a:ext uri="{FF2B5EF4-FFF2-40B4-BE49-F238E27FC236}">
                <a16:creationId xmlns:a16="http://schemas.microsoft.com/office/drawing/2014/main" id="{24C5D86F-826A-651A-5F54-5356BB5F4E8D}"/>
              </a:ext>
            </a:extLst>
          </p:cNvPr>
          <p:cNvSpPr>
            <a:spLocks noGrp="1"/>
          </p:cNvSpPr>
          <p:nvPr>
            <p:ph idx="1"/>
          </p:nvPr>
        </p:nvSpPr>
        <p:spPr>
          <a:xfrm>
            <a:off x="424873" y="1143000"/>
            <a:ext cx="8229600" cy="5486400"/>
          </a:xfrm>
        </p:spPr>
        <p:txBody>
          <a:bodyPr>
            <a:normAutofit/>
          </a:bodyPr>
          <a:lstStyle/>
          <a:p>
            <a:endParaRPr lang="en-US" sz="1400" dirty="0">
              <a:latin typeface="Times New Roman" panose="02020603050405020304" pitchFamily="18" charset="0"/>
              <a:cs typeface="Times New Roman" panose="02020603050405020304" pitchFamily="18" charset="0"/>
            </a:endParaRPr>
          </a:p>
          <a:p>
            <a:endParaRPr lang="en-US" sz="1400" dirty="0"/>
          </a:p>
          <a:p>
            <a:endParaRPr lang="en-US" sz="1400" dirty="0"/>
          </a:p>
          <a:p>
            <a:endParaRPr lang="en-US" sz="1400" dirty="0"/>
          </a:p>
          <a:p>
            <a:endParaRPr lang="en-US" sz="1400" dirty="0"/>
          </a:p>
        </p:txBody>
      </p:sp>
      <p:sp>
        <p:nvSpPr>
          <p:cNvPr id="4" name="Rectangle 3"/>
          <p:cNvSpPr/>
          <p:nvPr/>
        </p:nvSpPr>
        <p:spPr>
          <a:xfrm>
            <a:off x="228600" y="381000"/>
            <a:ext cx="8915400" cy="5909310"/>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Fine-Tuning:</a:t>
            </a:r>
          </a:p>
          <a:p>
            <a:r>
              <a:rPr lang="en-US" dirty="0">
                <a:latin typeface="Times New Roman" panose="02020603050405020304" pitchFamily="18" charset="0"/>
                <a:cs typeface="Times New Roman" panose="02020603050405020304" pitchFamily="18" charset="0"/>
              </a:rPr>
              <a:t>Top layers of the </a:t>
            </a:r>
            <a:r>
              <a:rPr lang="en-US" dirty="0" err="1">
                <a:latin typeface="Times New Roman" panose="02020603050405020304" pitchFamily="18" charset="0"/>
                <a:cs typeface="Times New Roman" panose="02020603050405020304" pitchFamily="18" charset="0"/>
              </a:rPr>
              <a:t>pretrained</a:t>
            </a:r>
            <a:r>
              <a:rPr lang="en-US" dirty="0">
                <a:latin typeface="Times New Roman" panose="02020603050405020304" pitchFamily="18" charset="0"/>
                <a:cs typeface="Times New Roman" panose="02020603050405020304" pitchFamily="18" charset="0"/>
              </a:rPr>
              <a:t> model are unfrozen. Backpropagation updates selected layers. Improves model performance and accuracy, </a:t>
            </a:r>
            <a:r>
              <a:rPr lang="en-US" altLang="en-US" dirty="0">
                <a:latin typeface="Times New Roman" panose="02020603050405020304" pitchFamily="18" charset="0"/>
                <a:cs typeface="Times New Roman" panose="02020603050405020304" pitchFamily="18" charset="0"/>
              </a:rPr>
              <a:t> Enhances feature specialization, Reduces overfitting, Achieves better generalization, Requires less computational power than training from scratch</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Model Training:</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The model is trained using - </a:t>
            </a:r>
            <a:r>
              <a:rPr lang="en-US" dirty="0">
                <a:latin typeface="Times New Roman" panose="02020603050405020304" pitchFamily="18" charset="0"/>
                <a:cs typeface="Times New Roman" panose="02020603050405020304" pitchFamily="18" charset="0"/>
              </a:rPr>
              <a:t>Loss function (Categorical </a:t>
            </a:r>
            <a:r>
              <a:rPr lang="en-US" dirty="0" err="1">
                <a:latin typeface="Times New Roman" panose="02020603050405020304" pitchFamily="18" charset="0"/>
                <a:cs typeface="Times New Roman" panose="02020603050405020304" pitchFamily="18" charset="0"/>
              </a:rPr>
              <a:t>Crossentropy</a:t>
            </a:r>
            <a:r>
              <a:rPr lang="en-US" dirty="0">
                <a:latin typeface="Times New Roman" panose="02020603050405020304" pitchFamily="18" charset="0"/>
                <a:cs typeface="Times New Roman" panose="02020603050405020304" pitchFamily="18" charset="0"/>
              </a:rPr>
              <a:t>), Optimizer, Accuracy and loss are monitored during training.</a:t>
            </a: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Pre-trained models extract features.</a:t>
            </a: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Custom classification layers learn garbage-specific patterns.</a:t>
            </a:r>
          </a:p>
          <a:p>
            <a:pPr lvl="0" eaLnBrk="0" fontAlgn="base" hangingPunct="0">
              <a:spcBef>
                <a:spcPct val="0"/>
              </a:spcBef>
              <a:spcAft>
                <a:spcPct val="0"/>
              </a:spcAft>
            </a:pPr>
            <a:r>
              <a:rPr lang="en-US" altLang="en-US" dirty="0">
                <a:latin typeface="Times New Roman" panose="02020603050405020304" pitchFamily="18" charset="0"/>
                <a:cs typeface="Times New Roman" panose="02020603050405020304" pitchFamily="18" charset="0"/>
              </a:rPr>
              <a:t>Training adjusts weights to improve classification accuracy.</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Model Evaluation: </a:t>
            </a:r>
          </a:p>
          <a:p>
            <a:r>
              <a:rPr lang="en-US" dirty="0">
                <a:latin typeface="Times New Roman" panose="02020603050405020304" pitchFamily="18" charset="0"/>
                <a:cs typeface="Times New Roman" panose="02020603050405020304" pitchFamily="18" charset="0"/>
              </a:rPr>
              <a:t>Model is tested using validation, test data.</a:t>
            </a:r>
          </a:p>
          <a:p>
            <a:r>
              <a:rPr lang="en-US" b="1" dirty="0">
                <a:latin typeface="Times New Roman" panose="02020603050405020304" pitchFamily="18" charset="0"/>
                <a:cs typeface="Times New Roman" panose="02020603050405020304" pitchFamily="18" charset="0"/>
              </a:rPr>
              <a:t>Performance metrics</a:t>
            </a:r>
            <a:r>
              <a:rPr lang="en-US" dirty="0">
                <a:latin typeface="Times New Roman" panose="02020603050405020304" pitchFamily="18" charset="0"/>
                <a:cs typeface="Times New Roman" panose="02020603050405020304" pitchFamily="18" charset="0"/>
              </a:rPr>
              <a:t> - Test </a:t>
            </a:r>
            <a:r>
              <a:rPr lang="en-US" dirty="0" err="1">
                <a:latin typeface="Times New Roman" panose="02020603050405020304" pitchFamily="18" charset="0"/>
                <a:cs typeface="Times New Roman" panose="02020603050405020304" pitchFamily="18" charset="0"/>
              </a:rPr>
              <a:t>AccuracyConfusion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MatrixPrecision</a:t>
            </a:r>
            <a:r>
              <a:rPr lang="en-US" dirty="0">
                <a:latin typeface="Times New Roman" panose="02020603050405020304" pitchFamily="18" charset="0"/>
                <a:cs typeface="Times New Roman" panose="02020603050405020304" pitchFamily="18" charset="0"/>
              </a:rPr>
              <a:t>, Recall and F1score.</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Prediction Output:</a:t>
            </a:r>
          </a:p>
          <a:p>
            <a:r>
              <a:rPr lang="en-US" dirty="0">
                <a:latin typeface="Times New Roman" panose="02020603050405020304" pitchFamily="18" charset="0"/>
                <a:cs typeface="Times New Roman" panose="02020603050405020304" pitchFamily="18" charset="0"/>
              </a:rPr>
              <a:t>When a new garbage image is given the system predicts Garbage Class </a:t>
            </a:r>
            <a:r>
              <a:rPr lang="en-US" dirty="0" err="1">
                <a:latin typeface="Times New Roman" panose="02020603050405020304" pitchFamily="18" charset="0"/>
                <a:cs typeface="Times New Roman" panose="02020603050405020304" pitchFamily="18" charset="0"/>
              </a:rPr>
              <a:t>NameConfidence</a:t>
            </a:r>
            <a:r>
              <a:rPr lang="en-US" dirty="0">
                <a:latin typeface="Times New Roman" panose="02020603050405020304" pitchFamily="18" charset="0"/>
                <a:cs typeface="Times New Roman" panose="02020603050405020304" pitchFamily="18" charset="0"/>
              </a:rPr>
              <a:t> Percentage (92.4%) Overall Model Accuracy (95%).</a:t>
            </a:r>
          </a:p>
        </p:txBody>
      </p:sp>
    </p:spTree>
    <p:extLst>
      <p:ext uri="{BB962C8B-B14F-4D97-AF65-F5344CB8AC3E}">
        <p14:creationId xmlns:p14="http://schemas.microsoft.com/office/powerpoint/2010/main" val="2764084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67DC2-05FB-4CD6-EA43-152015CB9578}"/>
              </a:ext>
            </a:extLst>
          </p:cNvPr>
          <p:cNvSpPr>
            <a:spLocks noGrp="1"/>
          </p:cNvSpPr>
          <p:nvPr>
            <p:ph type="title"/>
          </p:nvPr>
        </p:nvSpPr>
        <p:spPr/>
        <p:txBody>
          <a:bodyPr>
            <a:normAutofit/>
          </a:bodyPr>
          <a:lstStyle/>
          <a:p>
            <a:r>
              <a:rPr lang="en-IN" sz="4000"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88B0A298-EFF6-3E0A-51AE-75E13E85DAFE}"/>
              </a:ext>
            </a:extLst>
          </p:cNvPr>
          <p:cNvSpPr>
            <a:spLocks noGrp="1"/>
          </p:cNvSpPr>
          <p:nvPr>
            <p:ph idx="1"/>
          </p:nvPr>
        </p:nvSpPr>
        <p:spPr/>
        <p:txBody>
          <a:bodyPr>
            <a:normAutofit/>
          </a:bodyPr>
          <a:lstStyle/>
          <a:p>
            <a:pPr marL="0" indent="0">
              <a:buNone/>
            </a:pPr>
            <a:r>
              <a:rPr lang="en-US" sz="2000" dirty="0">
                <a:latin typeface="Times New Roman" panose="02020603050405020304" pitchFamily="18" charset="0"/>
                <a:cs typeface="Times New Roman" panose="02020603050405020304" pitchFamily="18" charset="0"/>
              </a:rPr>
              <a:t>The proposed Image-Based Garbage Classification system effectively utilizes Convolutional Neural Networks (CNN) combined with transfer learning to automate the waste segregation process. By employing pre-trained models such as ResNet50 and VGG16, the system successfully extracts deep and meaningful visual features from garbage images, achieving high classification accuracy. The application of fine-tuning enables the model to adapt to waste-specific patterns, enhancing performance while reducing overall training time and computational complexity. Additionally, preprocessing and data augmentation techniques improve generalization capability and minimize overfitting. In conclusion, the proposed software-based approach proves that transfer learning is a reliable, efficient, and scalable solution for intelligent waste classification systems, contributing to improved recycling efficiency and sustainable waste management practices.</a:t>
            </a:r>
          </a:p>
          <a:p>
            <a:pPr algn="just"/>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3918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F94DE-2D14-BF82-806D-F094A0D54559}"/>
              </a:ext>
            </a:extLst>
          </p:cNvPr>
          <p:cNvSpPr>
            <a:spLocks noGrp="1"/>
          </p:cNvSpPr>
          <p:nvPr>
            <p:ph type="title"/>
          </p:nvPr>
        </p:nvSpPr>
        <p:spPr>
          <a:xfrm>
            <a:off x="304800" y="76200"/>
            <a:ext cx="8229600" cy="1143000"/>
          </a:xfrm>
        </p:spPr>
        <p:txBody>
          <a:bodyPr/>
          <a:lstStyle/>
          <a:p>
            <a:r>
              <a:rPr lang="en-IN"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AE4EDAFA-229C-54DC-DC60-EDCBA23DB7E4}"/>
              </a:ext>
            </a:extLst>
          </p:cNvPr>
          <p:cNvSpPr>
            <a:spLocks noGrp="1"/>
          </p:cNvSpPr>
          <p:nvPr>
            <p:ph idx="1"/>
          </p:nvPr>
        </p:nvSpPr>
        <p:spPr/>
        <p:txBody>
          <a:bodyPr>
            <a:normAutofit/>
          </a:bodyPr>
          <a:lstStyle/>
          <a:p>
            <a:pPr algn="just"/>
            <a:r>
              <a:rPr lang="en-IN" sz="1800" dirty="0">
                <a:latin typeface="Times New Roman" panose="02020603050405020304" pitchFamily="18" charset="0"/>
                <a:cs typeface="Times New Roman" panose="02020603050405020304" pitchFamily="18" charset="0"/>
              </a:rPr>
              <a:t> </a:t>
            </a:r>
            <a:r>
              <a:rPr lang="en-IN" sz="1800" u="sng" dirty="0">
                <a:hlinkClick r:id="rId2"/>
              </a:rPr>
              <a:t>https://doi.org/10.3390/su17198761</a:t>
            </a:r>
            <a:endParaRPr lang="en-IN" sz="1800" u="sng" dirty="0"/>
          </a:p>
          <a:p>
            <a:pPr algn="just"/>
            <a:endParaRPr lang="en-IN" sz="1800" u="sng" dirty="0">
              <a:latin typeface="Times New Roman" panose="02020603050405020304" pitchFamily="18" charset="0"/>
              <a:cs typeface="Times New Roman" panose="02020603050405020304" pitchFamily="18" charset="0"/>
            </a:endParaRPr>
          </a:p>
          <a:p>
            <a:pPr algn="just"/>
            <a:r>
              <a:rPr lang="en-IN" sz="1800" u="sng" dirty="0">
                <a:hlinkClick r:id="rId3"/>
              </a:rPr>
              <a:t>http://creativecommons.org/licenses/by-nc/4.0/</a:t>
            </a:r>
            <a:r>
              <a:rPr lang="en-IN" sz="1800" dirty="0"/>
              <a:t>)</a:t>
            </a:r>
          </a:p>
          <a:p>
            <a:pPr algn="just"/>
            <a:endParaRPr lang="en-IN" sz="2000" dirty="0">
              <a:latin typeface="Times New Roman" panose="02020603050405020304" pitchFamily="18" charset="0"/>
              <a:cs typeface="Times New Roman" panose="02020603050405020304" pitchFamily="18" charset="0"/>
            </a:endParaRPr>
          </a:p>
          <a:p>
            <a:pPr algn="just"/>
            <a:r>
              <a:rPr lang="en-IN" sz="1800" dirty="0">
                <a:latin typeface="Times New Roman" panose="02020603050405020304" pitchFamily="18" charset="0"/>
                <a:cs typeface="Times New Roman" panose="02020603050405020304" pitchFamily="18" charset="0"/>
              </a:rPr>
              <a:t>Intelligent Waste Classification System Using Deep Learning Convolutional Neural Network . (SMPM) 2019 ,  10.1016/j.promfg.2019.05.086.</a:t>
            </a:r>
          </a:p>
          <a:p>
            <a:pPr algn="just"/>
            <a:endParaRPr lang="en-IN" sz="1800"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Classification of Waste Materials using CNN Based on Transfer Learning  . fire ’22: forum for information retrieval evaluation ; </a:t>
            </a:r>
            <a:r>
              <a:rPr lang="en-IN" sz="1800" dirty="0">
                <a:latin typeface="Times New Roman" panose="02020603050405020304" pitchFamily="18" charset="0"/>
                <a:cs typeface="Times New Roman" panose="02020603050405020304" pitchFamily="18" charset="0"/>
                <a:hlinkClick r:id="rId4"/>
              </a:rPr>
              <a:t>https://dl.acm.org.com</a:t>
            </a:r>
            <a:endParaRPr lang="en-IN" sz="1800" dirty="0">
              <a:latin typeface="Times New Roman" panose="02020603050405020304" pitchFamily="18" charset="0"/>
              <a:cs typeface="Times New Roman" panose="02020603050405020304" pitchFamily="18" charset="0"/>
            </a:endParaRPr>
          </a:p>
          <a:p>
            <a:pPr lvl="0"/>
            <a:endParaRPr lang="en-IN" sz="1800" b="1" dirty="0">
              <a:latin typeface="Times New Roman" panose="02020603050405020304" pitchFamily="18" charset="0"/>
              <a:cs typeface="Times New Roman" panose="02020603050405020304" pitchFamily="18" charset="0"/>
            </a:endParaRPr>
          </a:p>
          <a:p>
            <a:pPr lvl="0"/>
            <a:r>
              <a:rPr lang="en-IN" sz="1800" dirty="0">
                <a:latin typeface="Times New Roman" panose="02020603050405020304" pitchFamily="18" charset="0"/>
                <a:cs typeface="Times New Roman" panose="02020603050405020304" pitchFamily="18" charset="0"/>
              </a:rPr>
              <a:t>Garbage In, Insights Out: Deep Transfer Learning for Automatic Solid Waste Classification “.2024 IEEE 1st International Conference on Green Industrial Electronics and Sustainable Technologies (GIEST).</a:t>
            </a:r>
            <a:endParaRPr lang="en-IN"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667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2B9DF-AEDE-F80F-6FEC-7DD661EFBEE7}"/>
              </a:ext>
            </a:extLst>
          </p:cNvPr>
          <p:cNvSpPr>
            <a:spLocks noGrp="1"/>
          </p:cNvSpPr>
          <p:nvPr>
            <p:ph type="title"/>
          </p:nvPr>
        </p:nvSpPr>
        <p:spPr>
          <a:xfrm>
            <a:off x="457200" y="2857500"/>
            <a:ext cx="8229600" cy="1143000"/>
          </a:xfrm>
        </p:spPr>
        <p:txBody>
          <a:bodyPr>
            <a:noAutofit/>
          </a:bodyPr>
          <a:lstStyle/>
          <a:p>
            <a:r>
              <a:rPr lang="en-IN" sz="72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1589090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874</TotalTime>
  <Words>1365</Words>
  <Application>Microsoft Office PowerPoint</Application>
  <PresentationFormat>On-screen Show (4:3)</PresentationFormat>
  <Paragraphs>130</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Book Antiqua</vt:lpstr>
      <vt:lpstr>Calibri</vt:lpstr>
      <vt:lpstr>Times New Roman</vt:lpstr>
      <vt:lpstr>Wingdings</vt:lpstr>
      <vt:lpstr>Office Theme</vt:lpstr>
      <vt:lpstr>PowerPoint Presentation</vt:lpstr>
      <vt:lpstr> CONTENTS </vt:lpstr>
      <vt:lpstr>ABSTRACT</vt:lpstr>
      <vt:lpstr>INTRODUCTION</vt:lpstr>
      <vt:lpstr>SYSTEM REQUIREMENT</vt:lpstr>
      <vt:lpstr>LITERATURE SURVEY</vt:lpstr>
      <vt:lpstr>EXISTING SYSTEM</vt:lpstr>
      <vt:lpstr>PowerPoint Presentation</vt:lpstr>
      <vt:lpstr>BLOCK DIAGRAM</vt:lpstr>
      <vt:lpstr>PROPOSED SYSTEM </vt:lpstr>
      <vt:lpstr>PowerPoint Presentation</vt:lpstr>
      <vt:lpstr> </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Admin1</dc:creator>
  <cp:lastModifiedBy>Harshavardhan A</cp:lastModifiedBy>
  <cp:revision>59</cp:revision>
  <dcterms:created xsi:type="dcterms:W3CDTF">2020-04-08T03:49:03Z</dcterms:created>
  <dcterms:modified xsi:type="dcterms:W3CDTF">2026-02-27T03:54:25Z</dcterms:modified>
</cp:coreProperties>
</file>